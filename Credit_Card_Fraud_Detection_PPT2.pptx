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7" r:id="rId3"/>
    <p:sldId id="288" r:id="rId4"/>
    <p:sldId id="289" r:id="rId5"/>
    <p:sldId id="291" r:id="rId6"/>
    <p:sldId id="292" r:id="rId7"/>
    <p:sldId id="293" r:id="rId8"/>
    <p:sldId id="294" r:id="rId9"/>
    <p:sldId id="295" r:id="rId10"/>
    <p:sldId id="286" r:id="rId11"/>
  </p:sldIdLst>
  <p:sldSz cx="12192000" cy="6858000"/>
  <p:notesSz cx="6858000" cy="9144000"/>
  <p:embeddedFontLst>
    <p:embeddedFont>
      <p:font typeface="Baskerville Old Face" panose="02020602080505020303" pitchFamily="18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Corbel" panose="020B0503020204020204" pitchFamily="34" charset="0"/>
      <p:regular r:id="rId15"/>
      <p:bold r:id="rId16"/>
      <p:italic r:id="rId17"/>
      <p:boldItalic r:id="rId18"/>
    </p:embeddedFont>
    <p:embeddedFont>
      <p:font typeface="Pinyon Script" panose="020B0604020202020204" charset="0"/>
      <p:regular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3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524000" y="1528987"/>
            <a:ext cx="9144000" cy="19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Engineering</a:t>
            </a: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(CSE-AIML) 4th Semester</a:t>
            </a:r>
            <a:endParaRPr sz="4400" dirty="0"/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7162800" y="4714614"/>
            <a:ext cx="4548231" cy="162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Team Members- Kartik Sharma, Chandan Mandal, Bhushan, Sumit Soni, Bhuwan</a:t>
            </a:r>
            <a:endParaRPr b="1" dirty="0">
              <a:solidFill>
                <a:srgbClr val="9E0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E37BDA01-9BA1-49D2-E85A-665FAC52F8D1}"/>
              </a:ext>
            </a:extLst>
          </p:cNvPr>
          <p:cNvSpPr txBox="1">
            <a:spLocks/>
          </p:cNvSpPr>
          <p:nvPr/>
        </p:nvSpPr>
        <p:spPr>
          <a:xfrm>
            <a:off x="620486" y="3580266"/>
            <a:ext cx="11179628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ID- BPT2CSE020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Title- Credit Card Fraud Detection System Using Machine Learning</a:t>
            </a:r>
          </a:p>
        </p:txBody>
      </p:sp>
      <p:sp>
        <p:nvSpPr>
          <p:cNvPr id="3" name="Google Shape;101;p1">
            <a:extLst>
              <a:ext uri="{FF2B5EF4-FFF2-40B4-BE49-F238E27FC236}">
                <a16:creationId xmlns:a16="http://schemas.microsoft.com/office/drawing/2014/main" id="{8632F2FA-5002-1972-BD5C-63AEA08FCA2A}"/>
              </a:ext>
            </a:extLst>
          </p:cNvPr>
          <p:cNvSpPr txBox="1">
            <a:spLocks/>
          </p:cNvSpPr>
          <p:nvPr/>
        </p:nvSpPr>
        <p:spPr>
          <a:xfrm>
            <a:off x="3853543" y="453794"/>
            <a:ext cx="3931920" cy="9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ETE viva voce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36426" y="821731"/>
            <a:ext cx="2040122" cy="92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Abstract</a:t>
            </a: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690628" y="1433305"/>
            <a:ext cx="10810744" cy="460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/>
              <a:t>• Credit card fraud has increased with digital payments, leading to financial loss and reduced user trust.</a:t>
            </a:r>
          </a:p>
          <a:p>
            <a:pPr marL="114300" indent="0">
              <a:buNone/>
            </a:pPr>
            <a:r>
              <a:rPr lang="en-US" sz="2000" dirty="0"/>
              <a:t>• This project uses machine learning on the European credit card dataset </a:t>
            </a:r>
            <a:r>
              <a:rPr lang="en-US" sz="2000" i="1" dirty="0"/>
              <a:t>(284,807 transactions; only 492 fraud — 0.172%)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r>
              <a:rPr lang="en-US" sz="2000" dirty="0"/>
              <a:t>• Two models are applied: Logistic Regression (baseline) and Random Forest (comparison).</a:t>
            </a:r>
          </a:p>
          <a:p>
            <a:pPr marL="114300" indent="0">
              <a:buNone/>
            </a:pPr>
            <a:r>
              <a:rPr lang="en-US" sz="2000" dirty="0"/>
              <a:t>• Due to high class imbalance, accuracy alone is misleading; evaluation uses Precision, Recall, F1-Score, and Confusion Matrix.</a:t>
            </a:r>
          </a:p>
          <a:p>
            <a:pPr marL="114300" indent="0">
              <a:buNone/>
            </a:pPr>
            <a:r>
              <a:rPr lang="en-US" sz="2000" dirty="0"/>
              <a:t>• Logistic Regression Results: Accuracy 96.46, Recall 0.87, F1-Score 0.98.</a:t>
            </a:r>
          </a:p>
          <a:p>
            <a:pPr marL="114300" indent="0">
              <a:buNone/>
            </a:pPr>
            <a:r>
              <a:rPr lang="en-US" sz="2000" dirty="0"/>
              <a:t>• Random Forest shows slightly better overall performance based on comparison results.</a:t>
            </a:r>
          </a:p>
          <a:p>
            <a:pPr marL="114300" indent="0">
              <a:buNone/>
            </a:pPr>
            <a:r>
              <a:rPr lang="en-US" sz="2000" dirty="0"/>
              <a:t>• Key Takeaway: Proper evaluation metrics are essential for effective fraud detection in imbalanced datasets.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11259" y="914010"/>
            <a:ext cx="7032172" cy="92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Introduction</a:t>
            </a: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690628" y="1610773"/>
            <a:ext cx="10810744" cy="460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2000" dirty="0"/>
              <a:t>• Credit cards are widely used for shopping, bill payments, recharges, travel booking, and food delivery.</a:t>
            </a:r>
          </a:p>
          <a:p>
            <a:pPr marL="114300" indent="0">
              <a:buNone/>
            </a:pPr>
            <a:r>
              <a:rPr lang="en-US" sz="2000" dirty="0"/>
              <a:t>• The rapid growth of digital payments has increased fraud risks, often detected only after financial loss.</a:t>
            </a:r>
          </a:p>
          <a:p>
            <a:pPr marL="114300" indent="0">
              <a:buNone/>
            </a:pPr>
            <a:r>
              <a:rPr lang="en-US" sz="2000" dirty="0"/>
              <a:t>• Traditional rule-based systems (e.g., unusual amount/location checks) are limited as fraud patterns continuously evolve.</a:t>
            </a:r>
          </a:p>
          <a:p>
            <a:pPr marL="114300" indent="0">
              <a:buNone/>
            </a:pPr>
            <a:r>
              <a:rPr lang="en-US" sz="2000" dirty="0"/>
              <a:t>• Machine Learning (ML) provides a smarter approach by learning from past transactions and detecting hidden fraud patterns.</a:t>
            </a:r>
          </a:p>
          <a:p>
            <a:pPr marL="114300" indent="0">
              <a:buNone/>
            </a:pPr>
            <a:r>
              <a:rPr lang="en-US" sz="2000" dirty="0"/>
              <a:t>• Motivation: Fraud detection is a high-impact real-world problem involving imbalanced data and practical ML challenges.</a:t>
            </a:r>
          </a:p>
          <a:p>
            <a:pPr marL="114300" indent="0">
              <a:buNone/>
            </a:pPr>
            <a:r>
              <a:rPr lang="en-US" sz="2000" dirty="0"/>
              <a:t>• Objectives:</a:t>
            </a:r>
            <a:br>
              <a:rPr lang="en-US" sz="2000" dirty="0"/>
            </a:br>
            <a:r>
              <a:rPr lang="en-US" sz="2000" dirty="0"/>
              <a:t>– Analyze imbalanced dataset</a:t>
            </a:r>
            <a:br>
              <a:rPr lang="en-US" sz="2000" dirty="0"/>
            </a:br>
            <a:r>
              <a:rPr lang="en-US" sz="2000" dirty="0"/>
              <a:t>– Build Logistic Regression baseline</a:t>
            </a:r>
            <a:br>
              <a:rPr lang="en-US" sz="2000" dirty="0"/>
            </a:br>
            <a:r>
              <a:rPr lang="en-US" sz="2000" dirty="0"/>
              <a:t>– Compare with Random Forest</a:t>
            </a:r>
            <a:br>
              <a:rPr lang="en-US" sz="2000" dirty="0"/>
            </a:br>
            <a:r>
              <a:rPr lang="en-US" sz="2000" dirty="0"/>
              <a:t>– Evaluate using Accuracy, Precision, Recall, F1-Score &amp; Confusion Matrix</a:t>
            </a:r>
            <a:br>
              <a:rPr lang="en-US" sz="2000" dirty="0"/>
            </a:br>
            <a:r>
              <a:rPr lang="en-US" sz="2000" dirty="0"/>
              <a:t>– Identify the best-performing model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772437" y="956345"/>
            <a:ext cx="3396342" cy="67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Literature</a:t>
            </a:r>
            <a:r>
              <a:rPr lang="en-US" sz="2800" b="1" dirty="0">
                <a:solidFill>
                  <a:srgbClr val="585858"/>
                </a:solidFill>
                <a:latin typeface="Corbel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orbel"/>
              </a:rPr>
              <a:t>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7FD1E0-ECA1-DEF0-6866-5EE27BACC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078583"/>
              </p:ext>
            </p:extLst>
          </p:nvPr>
        </p:nvGraphicFramePr>
        <p:xfrm>
          <a:off x="889883" y="1631444"/>
          <a:ext cx="10244454" cy="3595112"/>
        </p:xfrm>
        <a:graphic>
          <a:graphicData uri="http://schemas.openxmlformats.org/drawingml/2006/table">
            <a:tbl>
              <a:tblPr/>
              <a:tblGrid>
                <a:gridCol w="3414818">
                  <a:extLst>
                    <a:ext uri="{9D8B030D-6E8A-4147-A177-3AD203B41FA5}">
                      <a16:colId xmlns:a16="http://schemas.microsoft.com/office/drawing/2014/main" val="3298308721"/>
                    </a:ext>
                  </a:extLst>
                </a:gridCol>
                <a:gridCol w="3414818">
                  <a:extLst>
                    <a:ext uri="{9D8B030D-6E8A-4147-A177-3AD203B41FA5}">
                      <a16:colId xmlns:a16="http://schemas.microsoft.com/office/drawing/2014/main" val="2442151143"/>
                    </a:ext>
                  </a:extLst>
                </a:gridCol>
                <a:gridCol w="3414818">
                  <a:extLst>
                    <a:ext uri="{9D8B030D-6E8A-4147-A177-3AD203B41FA5}">
                      <a16:colId xmlns:a16="http://schemas.microsoft.com/office/drawing/2014/main" val="2247476321"/>
                    </a:ext>
                  </a:extLst>
                </a:gridCol>
              </a:tblGrid>
              <a:tr h="338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  <a:endParaRPr lang="en-IN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Benefit</a:t>
                      </a:r>
                      <a:endParaRPr lang="en-IN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558606"/>
                  </a:ext>
                </a:extLst>
              </a:tr>
              <a:tr h="561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Selection + ML (Ileberi et al.)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Improves performance through better preprocessing and relevant feature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careful tuning; wrong features can reduce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577678"/>
                  </a:ext>
                </a:extLst>
              </a:tr>
              <a:tr h="77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Comparative ML Methods (</a:t>
                      </a:r>
                      <a:r>
                        <a:rPr lang="en-IN" dirty="0" err="1"/>
                        <a:t>Dornadula</a:t>
                      </a:r>
                      <a:r>
                        <a:rPr lang="en-IN" dirty="0"/>
                        <a:t> &amp; Geetha)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Helps identify the most suitable model for fraud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single model works best; performance varies on imbalanced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20771"/>
                  </a:ext>
                </a:extLst>
              </a:tr>
              <a:tr h="862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Evaluation </a:t>
                      </a:r>
                      <a:r>
                        <a:rPr lang="fr-FR" dirty="0" err="1"/>
                        <a:t>Metrics</a:t>
                      </a:r>
                      <a:r>
                        <a:rPr lang="fr-FR" dirty="0"/>
                        <a:t> (Awoyemi et al.)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Promotes use of Recall, Precision, F1-score for better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metrics increase complexity in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808639"/>
                  </a:ext>
                </a:extLst>
              </a:tr>
              <a:tr h="89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Imbalanced Learning (Dal Pozzolo et al.)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Enhances detection of rare fraud cases by handling skewed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Resampling techniques may introduce bias or 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1323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36426" y="905621"/>
            <a:ext cx="7032172" cy="92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Google Shape;108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90628" y="1577217"/>
                <a:ext cx="10810744" cy="460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• Dataset &amp; Preprocessing: Used a Kaggle dataset of European cardholders; performed preprocessing (handling missing values, scaling, and class imbalance).</a:t>
                </a:r>
                <a:endParaRPr lang="en-IN" sz="2000" dirty="0"/>
              </a:p>
              <a:p>
                <a:pPr marL="114300" indent="0">
                  <a:buNone/>
                </a:pPr>
                <a:r>
                  <a:rPr lang="en-IN" sz="2000" dirty="0"/>
                  <a:t>• Logistic Regression: Chosen as baseline — simple, interpretable, and well-suited for binary classification.</a:t>
                </a:r>
              </a:p>
              <a:p>
                <a:pPr marL="114300" indent="0">
                  <a:buNone/>
                </a:pPr>
                <a:r>
                  <a:rPr lang="en-IN" sz="2000" dirty="0"/>
                  <a:t>• Uses the sigmoid function to estimate probability:</a:t>
                </a:r>
                <a:br>
                  <a:rPr lang="en-IN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b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ar-AE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ar-AE" b="0" smtClean="0">
                                      <a:latin typeface="Cambria Math" panose="02040503050406030204" pitchFamily="18" charset="0"/>
                                    </a:rPr>
                                    <m:t>+⋯+</m:t>
                                  </m:r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ar-AE" sz="2000" dirty="0"/>
              </a:p>
              <a:p>
                <a:pPr marL="114300" indent="0">
                  <a:buNone/>
                </a:pPr>
                <a:r>
                  <a:rPr lang="ar-AE" sz="2000" dirty="0"/>
                  <a:t>•</a:t>
                </a:r>
                <a:r>
                  <a:rPr lang="en-IN" sz="2000" dirty="0"/>
                  <a:t> Random Forest: Ensemble of decision trees — captures nonlinear patterns and feature interactions effectively.</a:t>
                </a:r>
              </a:p>
              <a:p>
                <a:pPr marL="114300" indent="0">
                  <a:buNone/>
                </a:pPr>
                <a:r>
                  <a:rPr lang="en-IN" sz="2000" dirty="0"/>
                  <a:t>• Train-Test Split: Stratified 80/20 split used to preserve fraud ratio in both training and testing sets.</a:t>
                </a:r>
              </a:p>
              <a:p>
                <a:pPr marL="114300" indent="0">
                  <a:buNone/>
                </a:pPr>
                <a:r>
                  <a:rPr lang="en-IN" sz="2000" dirty="0"/>
                  <a:t>• Evaluation Metrics: Precision, Recall, and F1-Score used instead of accuracy alone.</a:t>
                </a:r>
              </a:p>
              <a:p>
                <a:pPr marL="114300" indent="0">
                  <a:buNone/>
                </a:pPr>
                <a:r>
                  <a:rPr lang="en-IN" sz="2000" dirty="0"/>
                  <a:t>• Key Insight: Recall is critical — it measures how many actual fraud cases are correctly detected.</a:t>
                </a:r>
              </a:p>
              <a:p>
                <a:pPr marL="228600" lvl="0" indent="-228600" algn="just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85858"/>
                  </a:buClr>
                  <a:buSzPts val="320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108" name="Google Shape;108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0628" y="1577217"/>
                <a:ext cx="10810744" cy="4602964"/>
              </a:xfrm>
              <a:prstGeom prst="rect">
                <a:avLst/>
              </a:prstGeom>
              <a:blipFill>
                <a:blip r:embed="rId2"/>
                <a:stretch>
                  <a:fillRect r="-789" b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797458" y="751893"/>
            <a:ext cx="4498096" cy="81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Results &amp; Visual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EDA24-86F3-DB12-86F3-25C97AF69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3" y="1403059"/>
            <a:ext cx="3539649" cy="2220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D94ED7-5C96-1A1A-CB53-802E4405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65" y="3624044"/>
            <a:ext cx="3414688" cy="2515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14752E-CE0F-B9CE-AC8D-8EDCA7FDB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490" y="1157311"/>
            <a:ext cx="6102646" cy="4981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36426" y="1017965"/>
            <a:ext cx="2126010" cy="65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None/>
            </a:pPr>
            <a:r>
              <a:rPr lang="en-US" sz="2800" b="1" dirty="0">
                <a:solidFill>
                  <a:schemeClr val="tx1"/>
                </a:solidFill>
                <a:latin typeface="Corbel"/>
              </a:rPr>
              <a:t>Conclusion</a:t>
            </a: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36426" y="1484938"/>
            <a:ext cx="10810744" cy="460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sz="2000" dirty="0"/>
              <a:t>• Discussion: High accuracy can be misleading on imbalanced data — Precision, Recall, and F1-score give a more reliable evaluation.</a:t>
            </a:r>
          </a:p>
          <a:p>
            <a:pPr marL="114300" indent="0">
              <a:buNone/>
            </a:pPr>
            <a:r>
              <a:rPr lang="en-US" sz="2000" dirty="0"/>
              <a:t>• Key Challenge: Class imbalance causes models to favor the majority class if not handled properly.</a:t>
            </a:r>
          </a:p>
          <a:p>
            <a:pPr marL="114300" indent="0">
              <a:buNone/>
            </a:pPr>
            <a:r>
              <a:rPr lang="en-US" sz="2000" dirty="0"/>
              <a:t>• Model Insight: Logistic Regression offers a strong, interpretable baseline, while Random Forest delivers better overall performance.</a:t>
            </a:r>
          </a:p>
          <a:p>
            <a:pPr marL="114300" indent="0">
              <a:buNone/>
            </a:pPr>
            <a:r>
              <a:rPr lang="en-US" sz="2000" dirty="0"/>
              <a:t>• Conclusion: Careful evaluation is essential in fraud detection; Random Forest is more suitable for this task.</a:t>
            </a:r>
          </a:p>
          <a:p>
            <a:pPr marL="114300" indent="0">
              <a:buNone/>
            </a:pPr>
            <a:r>
              <a:rPr lang="en-US" sz="2000" dirty="0"/>
              <a:t>• Limitations: Uses offline dataset; features are anonymized; Random Forest comparison based on project-level analysis.</a:t>
            </a:r>
          </a:p>
          <a:p>
            <a:pPr marL="114300" indent="0">
              <a:buNone/>
            </a:pPr>
            <a:r>
              <a:rPr lang="en-US" sz="2000" dirty="0"/>
              <a:t>• Future Work: Explore advanced models like </a:t>
            </a:r>
            <a:r>
              <a:rPr lang="en-US" sz="2000" dirty="0" err="1"/>
              <a:t>XGBoost</a:t>
            </a:r>
            <a:r>
              <a:rPr lang="en-US" sz="2000" dirty="0"/>
              <a:t>, SVM, and deep learning; apply threshold tuning and cost-sensitive learning.</a:t>
            </a:r>
          </a:p>
          <a:p>
            <a:pPr marL="114300" indent="0">
              <a:buNone/>
            </a:pPr>
            <a:r>
              <a:rPr lang="en-US" sz="2000" dirty="0"/>
              <a:t>• Future Extension: Develop a real-time web interface/API for live transaction-based fraud prediction.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968A-AF0E-FA44-598D-5DF7FD51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8" y="808797"/>
            <a:ext cx="3733801" cy="566995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Corbel" panose="020B0503020204020204" pitchFamily="34" charset="0"/>
              </a:rPr>
              <a:t>Research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7D0B-35A2-846A-B517-81384CB9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52" y="1375794"/>
            <a:ext cx="3657600" cy="4832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4B776A-27F9-64EF-6440-611D956E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87" y="1375793"/>
            <a:ext cx="3657601" cy="4832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87FA28-D1FD-6D3D-5495-36B9B4CA2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87" y="1375792"/>
            <a:ext cx="3591189" cy="4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8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E977-4BD3-E86D-8239-51B186E5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28" y="893427"/>
            <a:ext cx="2358007" cy="69628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Corbel" panose="020B0503020204020204" pitchFamily="34" charset="0"/>
              </a:rPr>
              <a:t>Publication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A6E3C-4D31-6DE8-11E3-7F66588D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434" y="1241571"/>
            <a:ext cx="7793373" cy="4966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F1E47F-95C1-5B91-ED4A-741936FC0F45}"/>
              </a:ext>
            </a:extLst>
          </p:cNvPr>
          <p:cNvSpPr txBox="1"/>
          <p:nvPr/>
        </p:nvSpPr>
        <p:spPr>
          <a:xfrm>
            <a:off x="413159" y="1738975"/>
            <a:ext cx="319410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❖ Conference/Journal: International Peer-Reviewed Journal</a:t>
            </a:r>
          </a:p>
          <a:p>
            <a:r>
              <a:rPr lang="en-IN" dirty="0"/>
              <a:t>❖ Track: Artificial Intelligence and Machine Learning</a:t>
            </a:r>
          </a:p>
          <a:p>
            <a:r>
              <a:rPr lang="en-IN" dirty="0"/>
              <a:t>❖ Paper ID: 1716710</a:t>
            </a:r>
          </a:p>
          <a:p>
            <a:r>
              <a:rPr lang="en-IN" dirty="0"/>
              <a:t>❖ Paper Title: Credit Card Fraud Detection</a:t>
            </a:r>
          </a:p>
          <a:p>
            <a:r>
              <a:rPr lang="en-IN" dirty="0"/>
              <a:t>❖ Status: Submitted </a:t>
            </a:r>
          </a:p>
          <a:p>
            <a:r>
              <a:rPr lang="en-IN" dirty="0"/>
              <a:t>❖ Submission Link -https://www.irejournals.com/submit-paper</a:t>
            </a:r>
          </a:p>
        </p:txBody>
      </p:sp>
    </p:spTree>
    <p:extLst>
      <p:ext uri="{BB962C8B-B14F-4D97-AF65-F5344CB8AC3E}">
        <p14:creationId xmlns:p14="http://schemas.microsoft.com/office/powerpoint/2010/main" val="94738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00"/>
              <a:buFont typeface="Pinyon Script"/>
              <a:buNone/>
            </a:pPr>
            <a:r>
              <a:rPr lang="en-US" sz="19900" dirty="0">
                <a:latin typeface="Baskerville Old Face" panose="02020602080505020303" pitchFamily="18" charset="0"/>
                <a:ea typeface="Tahoma" panose="020B0604030504040204" pitchFamily="34" charset="0"/>
                <a:cs typeface="Tahoma" panose="020B0604030504040204" pitchFamily="34" charset="0"/>
                <a:sym typeface="Pinyon Script"/>
              </a:rPr>
              <a:t>Thank You</a:t>
            </a:r>
            <a:endParaRPr dirty="0">
              <a:latin typeface="Baskerville Old Face" panose="020206020805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754</Words>
  <Application>Microsoft Office PowerPoint</Application>
  <PresentationFormat>Widescreen</PresentationFormat>
  <Paragraphs>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Play</vt:lpstr>
      <vt:lpstr>Times New Roman</vt:lpstr>
      <vt:lpstr>Baskerville Old Face</vt:lpstr>
      <vt:lpstr>Calibri</vt:lpstr>
      <vt:lpstr>Corbel</vt:lpstr>
      <vt:lpstr>Pinyon Script</vt:lpstr>
      <vt:lpstr>Cambria Math</vt:lpstr>
      <vt:lpstr>Arial</vt:lpstr>
      <vt:lpstr>Office Theme</vt:lpstr>
      <vt:lpstr>School of Computer Science and Engineering B.Tech (CSE-AIML) 4th Semester</vt:lpstr>
      <vt:lpstr>Abstract</vt:lpstr>
      <vt:lpstr>Introduction</vt:lpstr>
      <vt:lpstr>Literature Review</vt:lpstr>
      <vt:lpstr>Implementation</vt:lpstr>
      <vt:lpstr>Results &amp; Visual Analysis</vt:lpstr>
      <vt:lpstr>Conclusion</vt:lpstr>
      <vt:lpstr>Research Paper</vt:lpstr>
      <vt:lpstr>Publication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Computer Science and Engineering B.Tech (CSE) ….. Semester</dc:title>
  <dc:creator>Anil Saroliya</dc:creator>
  <cp:lastModifiedBy>Chandan Kumar</cp:lastModifiedBy>
  <cp:revision>5</cp:revision>
  <dcterms:created xsi:type="dcterms:W3CDTF">2025-07-19T19:52:25Z</dcterms:created>
  <dcterms:modified xsi:type="dcterms:W3CDTF">2026-05-05T18:38:38Z</dcterms:modified>
</cp:coreProperties>
</file>